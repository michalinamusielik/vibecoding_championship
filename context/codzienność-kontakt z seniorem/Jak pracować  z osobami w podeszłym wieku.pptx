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7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pl-PL" smtClean="0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BDDC993-3781-42CC-B037-0325CEE6185F}" type="datetimeFigureOut">
              <a:rPr lang="pl-PL" smtClean="0"/>
              <a:t>01.03.2024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FE5F922-77A1-4E92-8DB3-DE63A58F2D0B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755576" y="1556792"/>
            <a:ext cx="7200800" cy="4377873"/>
          </a:xfrm>
        </p:spPr>
        <p:txBody>
          <a:bodyPr>
            <a:normAutofit/>
          </a:bodyPr>
          <a:lstStyle/>
          <a:p>
            <a:endParaRPr lang="pl-PL" sz="1200" dirty="0" smtClean="0"/>
          </a:p>
          <a:p>
            <a:endParaRPr lang="pl-PL" sz="1200" dirty="0"/>
          </a:p>
          <a:p>
            <a:r>
              <a:rPr lang="pl-PL" sz="1400" b="1" dirty="0" smtClean="0"/>
              <a:t>Starzenie </a:t>
            </a:r>
            <a:r>
              <a:rPr lang="pl-PL" sz="1400" b="1" dirty="0"/>
              <a:t>się </a:t>
            </a:r>
            <a:r>
              <a:rPr lang="pl-PL" sz="1200" dirty="0"/>
              <a:t>jest procesem </a:t>
            </a:r>
            <a:r>
              <a:rPr lang="pl-PL" sz="1200" dirty="0"/>
              <a:t>nieodwracalnym </a:t>
            </a:r>
            <a:r>
              <a:rPr lang="pl-PL" sz="1200" dirty="0" smtClean="0"/>
              <a:t>dynamicznym</a:t>
            </a:r>
            <a:r>
              <a:rPr lang="pl-PL" sz="1200" dirty="0"/>
              <a:t>, długotrwałym i </a:t>
            </a:r>
            <a:r>
              <a:rPr lang="pl-PL" sz="1200" dirty="0" smtClean="0"/>
              <a:t>dzieje </a:t>
            </a:r>
            <a:r>
              <a:rPr lang="pl-PL" sz="1200" dirty="0"/>
              <a:t>się w </a:t>
            </a:r>
            <a:r>
              <a:rPr lang="pl-PL" sz="1200" dirty="0" smtClean="0"/>
              <a:t>obszarze </a:t>
            </a:r>
            <a:r>
              <a:rPr lang="pl-PL" sz="1200" dirty="0"/>
              <a:t>biologicznym, psychologicznym oraz socjalno-społecznym. </a:t>
            </a:r>
          </a:p>
          <a:p>
            <a:r>
              <a:rPr lang="pl-PL" sz="1200" dirty="0"/>
              <a:t> </a:t>
            </a:r>
          </a:p>
          <a:p>
            <a:r>
              <a:rPr lang="pl-PL" sz="1200" dirty="0"/>
              <a:t>Zdanych demograficznych wynika, że ilości ludzi zamieszkałych w Polsce,  nie zmienia się znacząco natomiast wydłuża się ich czas życia dzięki nowoczesnej diagnostyce, rehabilitacji, profilaktyce oraz prozdrowotnym stylu życia.</a:t>
            </a:r>
          </a:p>
          <a:p>
            <a:endParaRPr lang="pl-PL" sz="1200" b="1" dirty="0" smtClean="0"/>
          </a:p>
          <a:p>
            <a:r>
              <a:rPr lang="pl-PL" sz="1200" b="1" dirty="0" smtClean="0"/>
              <a:t>Spada </a:t>
            </a:r>
            <a:r>
              <a:rPr lang="pl-PL" sz="1200" b="1" dirty="0"/>
              <a:t>ADAPTACJA </a:t>
            </a:r>
            <a:r>
              <a:rPr lang="pl-PL" sz="1200" b="1" dirty="0" smtClean="0"/>
              <a:t>-Zmniejsza </a:t>
            </a:r>
            <a:r>
              <a:rPr lang="pl-PL" sz="1200" b="1" dirty="0"/>
              <a:t>się zdolność przystosowania do pojawiających wyzwań życia natomiast rośnie natężenie zaników fizjologicznych czyli niewydolności narządowej.  Najbardziej na </a:t>
            </a:r>
            <a:r>
              <a:rPr lang="pl-PL" sz="1200" b="1" dirty="0" smtClean="0"/>
              <a:t>INWOLUCJĘ narażone </a:t>
            </a:r>
            <a:r>
              <a:rPr lang="pl-PL" sz="1200" b="1" dirty="0"/>
              <a:t>są organy, które pracują najintensywniej tj. serce, wątroba, układ nerwowy. Wpływa ona również na zanik mięśni i tkanki tłuszczowej.</a:t>
            </a:r>
            <a:endParaRPr lang="pl-PL" sz="1200" dirty="0"/>
          </a:p>
          <a:p>
            <a:endParaRPr lang="pl-PL" sz="1200" dirty="0" smtClean="0"/>
          </a:p>
          <a:p>
            <a:endParaRPr lang="pl-PL" sz="1200" dirty="0"/>
          </a:p>
          <a:p>
            <a:r>
              <a:rPr lang="pl-PL" sz="1200" dirty="0" smtClean="0"/>
              <a:t>Większa </a:t>
            </a:r>
            <a:r>
              <a:rPr lang="pl-PL" sz="1200" dirty="0"/>
              <a:t>zależność od otoczenia, zmiana postawy i </a:t>
            </a:r>
            <a:r>
              <a:rPr lang="pl-PL" sz="1200" dirty="0" err="1"/>
              <a:t>zachowań</a:t>
            </a:r>
            <a:r>
              <a:rPr lang="pl-PL" sz="1200" dirty="0"/>
              <a:t>.</a:t>
            </a:r>
          </a:p>
          <a:p>
            <a:r>
              <a:rPr lang="pl-PL" sz="1200" dirty="0"/>
              <a:t>Większa potrzeba bezpieczeństwa.</a:t>
            </a:r>
          </a:p>
          <a:p>
            <a:r>
              <a:rPr lang="pl-PL" sz="1200" dirty="0"/>
              <a:t>Wycofanie się z wcześniejszych form aktywności</a:t>
            </a:r>
            <a:r>
              <a:rPr lang="pl-PL" sz="1200" dirty="0" smtClean="0"/>
              <a:t>.</a:t>
            </a:r>
            <a:endParaRPr lang="pl-PL" sz="1200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115616" y="908720"/>
            <a:ext cx="6671295" cy="504056"/>
          </a:xfrm>
        </p:spPr>
        <p:txBody>
          <a:bodyPr/>
          <a:lstStyle/>
          <a:p>
            <a:pPr algn="ctr"/>
            <a:r>
              <a:rPr lang="pl-PL" sz="3200" dirty="0" smtClean="0"/>
              <a:t>Późna dorosłość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100108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827584" y="1988842"/>
            <a:ext cx="747057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b="1" dirty="0"/>
              <a:t>Demencja</a:t>
            </a:r>
            <a:r>
              <a:rPr lang="pl-PL" sz="1200" dirty="0"/>
              <a:t> nie jest chorobą, wiele chorób może jednak do niej doprowadzić.  W wyniku tych chorób następują zmiany w mózgu, zaburzeniu ulegają funkcje korowe mózgu.</a:t>
            </a:r>
          </a:p>
          <a:p>
            <a:r>
              <a:rPr lang="pl-PL" sz="1200" dirty="0" smtClean="0"/>
              <a:t>Otępieniu </a:t>
            </a:r>
            <a:r>
              <a:rPr lang="pl-PL" sz="1200" dirty="0"/>
              <a:t>mogą towarzyszyć zaburzenia emocjonalne, zachowania, motywacji – przebiegają one bez zaburzeń świadomości.</a:t>
            </a:r>
          </a:p>
          <a:p>
            <a:pPr algn="ctr"/>
            <a:endParaRPr lang="pl-PL" sz="1200" dirty="0"/>
          </a:p>
          <a:p>
            <a:r>
              <a:rPr lang="pl-PL" sz="1200" dirty="0" smtClean="0"/>
              <a:t>OCENA </a:t>
            </a:r>
            <a:r>
              <a:rPr lang="pl-PL" sz="1200" dirty="0"/>
              <a:t>INNYCH I OCENA SIEBIE</a:t>
            </a:r>
          </a:p>
          <a:p>
            <a:r>
              <a:rPr lang="pl-PL" sz="1200" dirty="0"/>
              <a:t> </a:t>
            </a:r>
          </a:p>
          <a:p>
            <a:pPr lvl="0"/>
            <a:r>
              <a:rPr lang="pl-PL" sz="1200" dirty="0"/>
              <a:t>Mądrość ponad siły i aktywność fizyczna</a:t>
            </a:r>
          </a:p>
          <a:p>
            <a:pPr lvl="0"/>
            <a:r>
              <a:rPr lang="pl-PL" sz="1200" dirty="0"/>
              <a:t>Nowe kryteria oceny płci przeciwnej – liczy się </a:t>
            </a:r>
            <a:r>
              <a:rPr lang="pl-PL" sz="1200" dirty="0" err="1"/>
              <a:t>responsywność</a:t>
            </a:r>
            <a:r>
              <a:rPr lang="pl-PL" sz="1200" dirty="0"/>
              <a:t> partnera, poczucie bezpieczeństwa</a:t>
            </a:r>
          </a:p>
          <a:p>
            <a:pPr lvl="0"/>
            <a:r>
              <a:rPr lang="pl-PL" sz="1200" dirty="0"/>
              <a:t>Zmiana obiektu zaangażowania emocjonalnego – jeśli obiekt znika to trzeba sobie jakoś poradzić</a:t>
            </a:r>
          </a:p>
          <a:p>
            <a:pPr lvl="0"/>
            <a:r>
              <a:rPr lang="pl-PL" sz="1200" dirty="0"/>
              <a:t>Otwartość i elastyczność – kompensacja (jeśli coś tracimy to zyskujemy z innej dziedziny</a:t>
            </a:r>
            <a:r>
              <a:rPr lang="pl-PL" sz="1200" dirty="0" smtClean="0"/>
              <a:t>)</a:t>
            </a:r>
          </a:p>
          <a:p>
            <a:pPr lvl="0"/>
            <a:endParaRPr lang="pl-PL" sz="1200" dirty="0"/>
          </a:p>
          <a:p>
            <a:r>
              <a:rPr lang="pl-PL" sz="1200" u="sng" dirty="0"/>
              <a:t>EMOCJE</a:t>
            </a:r>
            <a:r>
              <a:rPr lang="pl-PL" sz="1200" dirty="0"/>
              <a:t> - większa kontrola emocji, mniejsze poszukiwanie pobudzenia</a:t>
            </a:r>
          </a:p>
          <a:p>
            <a:r>
              <a:rPr lang="pl-PL" sz="1200" dirty="0"/>
              <a:t> </a:t>
            </a:r>
          </a:p>
          <a:p>
            <a:r>
              <a:rPr lang="pl-PL" sz="1200" dirty="0"/>
              <a:t>Gorsze rozpoznawanie emocji – najsilniejszy spadek emocji pozytywnych, zwiększenie emocji negatywnych</a:t>
            </a:r>
          </a:p>
          <a:p>
            <a:r>
              <a:rPr lang="pl-PL" sz="1200" dirty="0"/>
              <a:t> </a:t>
            </a:r>
          </a:p>
          <a:p>
            <a:r>
              <a:rPr lang="pl-PL" sz="1200" dirty="0"/>
              <a:t>Ukierunkowanie energii na nowe role, akceptacja siebie, ukształtowanie poglądu na temat śmierci. </a:t>
            </a:r>
          </a:p>
          <a:p>
            <a:r>
              <a:rPr lang="pl-PL" sz="1200" dirty="0"/>
              <a:t> </a:t>
            </a:r>
          </a:p>
          <a:p>
            <a:r>
              <a:rPr lang="pl-PL" sz="1200" dirty="0"/>
              <a:t> </a:t>
            </a:r>
          </a:p>
          <a:p>
            <a:pPr lvl="0"/>
            <a:endParaRPr lang="pl-PL" sz="1200" dirty="0"/>
          </a:p>
          <a:p>
            <a:r>
              <a:rPr lang="pl-PL" sz="12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05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1547664" y="692697"/>
            <a:ext cx="5310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u="sng" dirty="0"/>
              <a:t>Jak pracować  z osobami w podeszłym wieku</a:t>
            </a:r>
            <a:r>
              <a:rPr lang="pl-PL" dirty="0"/>
              <a:t>?</a:t>
            </a:r>
          </a:p>
        </p:txBody>
      </p:sp>
      <p:sp>
        <p:nvSpPr>
          <p:cNvPr id="3" name="Prostokąt 2"/>
          <p:cNvSpPr/>
          <p:nvPr/>
        </p:nvSpPr>
        <p:spPr>
          <a:xfrm>
            <a:off x="827584" y="2136339"/>
            <a:ext cx="7200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dirty="0"/>
              <a:t>Wolontariusz, niezależnie od zaawansowanego wieku seniora z jakim pracuje musi wykształcić </a:t>
            </a:r>
            <a:r>
              <a:rPr lang="pl-PL" u="sng" dirty="0"/>
              <a:t>swój własny styl pracy</a:t>
            </a:r>
            <a:r>
              <a:rPr lang="pl-PL" dirty="0"/>
              <a:t>, który opiera się na trzech podstawowych kompetencjach:</a:t>
            </a:r>
          </a:p>
          <a:p>
            <a:pPr algn="ctr"/>
            <a:endParaRPr lang="pl-PL" dirty="0" smtClean="0"/>
          </a:p>
          <a:p>
            <a:pPr algn="ctr"/>
            <a:endParaRPr lang="pl-PL" dirty="0" smtClean="0"/>
          </a:p>
          <a:p>
            <a:pPr algn="ctr"/>
            <a:endParaRPr lang="pl-PL" dirty="0"/>
          </a:p>
          <a:p>
            <a:pPr algn="ctr"/>
            <a:r>
              <a:rPr lang="pl-PL" b="1" dirty="0"/>
              <a:t>Wiedzy</a:t>
            </a:r>
            <a:r>
              <a:rPr lang="pl-PL" dirty="0"/>
              <a:t> (wiem co?)</a:t>
            </a:r>
          </a:p>
          <a:p>
            <a:pPr algn="ctr"/>
            <a:r>
              <a:rPr lang="pl-PL" b="1" dirty="0"/>
              <a:t>Doświadczeniu</a:t>
            </a:r>
            <a:r>
              <a:rPr lang="pl-PL" dirty="0"/>
              <a:t> (wiem jak?)</a:t>
            </a:r>
          </a:p>
          <a:p>
            <a:pPr algn="ctr"/>
            <a:r>
              <a:rPr lang="pl-PL" b="1" dirty="0"/>
              <a:t>Empatii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377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611560" y="751344"/>
            <a:ext cx="74888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/>
              <a:t>Głośno, wyraźnie, powoli</a:t>
            </a:r>
            <a:r>
              <a:rPr lang="pl-PL" dirty="0" smtClean="0"/>
              <a:t>.</a:t>
            </a:r>
          </a:p>
          <a:p>
            <a:endParaRPr lang="pl-PL" dirty="0"/>
          </a:p>
          <a:p>
            <a:pPr marL="285750" indent="-285750">
              <a:buFontTx/>
              <a:buChar char="-"/>
            </a:pPr>
            <a:r>
              <a:rPr lang="pl-PL" dirty="0" smtClean="0"/>
              <a:t>osoby </a:t>
            </a:r>
            <a:r>
              <a:rPr lang="pl-PL" dirty="0"/>
              <a:t>starsze często mają problemy ze słuchem dlatego bardzo istotny jest sposób w jaki wolontariusz mówi. Powinno być wystarczająco głośno, wyraźnie i w odpowiednim tempie, stosując zrozumiałe słowa oraz odpowiednie formy grzecznościowe</a:t>
            </a:r>
            <a:r>
              <a:rPr lang="pl-PL" dirty="0" smtClean="0"/>
              <a:t>.</a:t>
            </a:r>
          </a:p>
          <a:p>
            <a:pPr marL="285750" indent="-285750">
              <a:buFontTx/>
              <a:buChar char="-"/>
            </a:pPr>
            <a:endParaRPr lang="pl-PL" dirty="0"/>
          </a:p>
          <a:p>
            <a:r>
              <a:rPr lang="pl-PL" b="1" dirty="0"/>
              <a:t>Upewnij się</a:t>
            </a:r>
            <a:r>
              <a:rPr lang="pl-PL" b="1" dirty="0" smtClean="0"/>
              <a:t>.</a:t>
            </a:r>
          </a:p>
          <a:p>
            <a:endParaRPr lang="pl-PL" dirty="0"/>
          </a:p>
          <a:p>
            <a:r>
              <a:rPr lang="pl-PL" dirty="0"/>
              <a:t>- osoby starsze czują się komfortowo, kiedy </a:t>
            </a:r>
            <a:r>
              <a:rPr lang="pl-PL" dirty="0" smtClean="0"/>
              <a:t>wiedzą, </a:t>
            </a:r>
            <a:r>
              <a:rPr lang="pl-PL" dirty="0"/>
              <a:t>kto wszedł do nich do pokoju i z kim rozmawiają. Zaskoczony senior może gwałtownie (lękowo) zareagować nawet agresywnie gdyż zostało zaburzone Jego poczucie bezpieczeństwa.</a:t>
            </a:r>
          </a:p>
          <a:p>
            <a:r>
              <a:rPr lang="pl-PL" dirty="0"/>
              <a:t>- wchodząc do pokoju, zapukaj, przywitaj się i pokaż swoją twarz, </a:t>
            </a:r>
            <a:r>
              <a:rPr lang="pl-PL" dirty="0" smtClean="0"/>
              <a:t>tak, </a:t>
            </a:r>
            <a:r>
              <a:rPr lang="pl-PL" dirty="0"/>
              <a:t>żeby senior rozpoznał osobę, która do niego przyszła.</a:t>
            </a:r>
          </a:p>
          <a:p>
            <a:r>
              <a:rPr lang="pl-PL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6728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611560" y="-495151"/>
            <a:ext cx="763284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 smtClean="0"/>
          </a:p>
          <a:p>
            <a:endParaRPr lang="pl-PL" sz="1400" b="1" dirty="0"/>
          </a:p>
          <a:p>
            <a:r>
              <a:rPr lang="pl-PL" sz="1400" b="1" dirty="0" smtClean="0"/>
              <a:t>Wyjaśnienie</a:t>
            </a:r>
            <a:r>
              <a:rPr lang="pl-PL" sz="1400" b="1" dirty="0"/>
              <a:t>.</a:t>
            </a:r>
            <a:endParaRPr lang="pl-PL" sz="1400" dirty="0"/>
          </a:p>
          <a:p>
            <a:r>
              <a:rPr lang="pl-PL" sz="1400" dirty="0"/>
              <a:t>- osoby starsze lubią </a:t>
            </a:r>
            <a:r>
              <a:rPr lang="pl-PL" sz="1400" dirty="0" smtClean="0"/>
              <a:t> </a:t>
            </a:r>
            <a:r>
              <a:rPr lang="pl-PL" sz="1400" dirty="0"/>
              <a:t>wyjaśnienie wykonywanej przez wolontariusza pracy, które zawiera nie tylko informację, ale również praktyczny przykład z życia.</a:t>
            </a:r>
          </a:p>
          <a:p>
            <a:r>
              <a:rPr lang="pl-PL" sz="1400" b="1" dirty="0"/>
              <a:t> </a:t>
            </a:r>
            <a:endParaRPr lang="pl-PL" sz="1400" dirty="0"/>
          </a:p>
          <a:p>
            <a:r>
              <a:rPr lang="pl-PL" sz="1400" b="1" dirty="0"/>
              <a:t>Konkrety.</a:t>
            </a:r>
            <a:endParaRPr lang="pl-PL" sz="1400" dirty="0"/>
          </a:p>
          <a:p>
            <a:r>
              <a:rPr lang="pl-PL" sz="1400" dirty="0" smtClean="0"/>
              <a:t>- dla </a:t>
            </a:r>
            <a:r>
              <a:rPr lang="pl-PL" sz="1400" dirty="0"/>
              <a:t>seniorów istotne jest by wyrażać się w sposób jasny i precyzyjny. Zdania powinny być krótkie </a:t>
            </a:r>
            <a:r>
              <a:rPr lang="pl-PL" sz="1400" dirty="0" smtClean="0"/>
              <a:t>i </a:t>
            </a:r>
            <a:r>
              <a:rPr lang="pl-PL" sz="1400" dirty="0"/>
              <a:t>proste. Należy unikać zdrobnień i porównań właściwych dla świata najmłodszych oraz kolokwializmów, skrótów czy słów obcojęzycznych.</a:t>
            </a:r>
          </a:p>
          <a:p>
            <a:r>
              <a:rPr lang="pl-PL" sz="1400" b="1" dirty="0"/>
              <a:t> </a:t>
            </a:r>
            <a:endParaRPr lang="pl-PL" sz="1400" dirty="0"/>
          </a:p>
          <a:p>
            <a:r>
              <a:rPr lang="pl-PL" sz="1400" b="1" dirty="0"/>
              <a:t>Bądź czujny.</a:t>
            </a:r>
            <a:endParaRPr lang="pl-PL" sz="1400" dirty="0"/>
          </a:p>
          <a:p>
            <a:r>
              <a:rPr lang="pl-PL" sz="1400" dirty="0"/>
              <a:t>- unikaj rozmów o polityce, religii. Seniorzy mają tendencję do mocnego trzymania się swoich poglądów (niezależnie jakie one są). Konfrontacja dwóch odmiennych poglądów w w/w dziedzinach może wywołać trwały spór i zaburzenie pozytywnej relacji z seniorem. Miej szczególną uwagę, aby przyjmować postawę neutralną wobec seniora nawet wtedy kiedy zupełnie się z nim nie zgadzamy.</a:t>
            </a:r>
          </a:p>
          <a:p>
            <a:r>
              <a:rPr lang="pl-PL" sz="1400" b="1" dirty="0"/>
              <a:t> 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411878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755576" y="-356651"/>
            <a:ext cx="784887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r>
              <a:rPr lang="pl-PL" sz="1400" b="1" dirty="0" smtClean="0"/>
              <a:t>Uwaga</a:t>
            </a:r>
          </a:p>
          <a:p>
            <a:endParaRPr lang="pl-PL" sz="1400" dirty="0"/>
          </a:p>
          <a:p>
            <a:r>
              <a:rPr lang="pl-PL" sz="1400" dirty="0"/>
              <a:t>- jeśli rozmawiasz z dwoma osobami w podeszłym wieku</a:t>
            </a:r>
          </a:p>
          <a:p>
            <a:r>
              <a:rPr lang="pl-PL" sz="1400" dirty="0"/>
              <a:t> staraj się koncentrować swoją uwagę po równo dla każdego seniora, kiedy przebywasz w ich pokoju, tak, aby każdy z nich czuł się zauważony.</a:t>
            </a:r>
          </a:p>
          <a:p>
            <a:r>
              <a:rPr lang="pl-PL" sz="1400" dirty="0"/>
              <a:t> </a:t>
            </a:r>
          </a:p>
          <a:p>
            <a:r>
              <a:rPr lang="pl-PL" sz="1400" b="1" dirty="0" smtClean="0"/>
              <a:t>Nowości</a:t>
            </a:r>
          </a:p>
          <a:p>
            <a:endParaRPr lang="pl-PL" sz="1400" dirty="0"/>
          </a:p>
          <a:p>
            <a:r>
              <a:rPr lang="pl-PL" sz="1400" dirty="0"/>
              <a:t>Dobrze jest pamiętać o tym, że niektórzy seniorzy mają niechęć do nowych wyzwań. </a:t>
            </a:r>
            <a:r>
              <a:rPr lang="pl-PL" sz="1400" dirty="0" smtClean="0"/>
              <a:t>Oto </a:t>
            </a:r>
            <a:r>
              <a:rPr lang="pl-PL" sz="1400" dirty="0"/>
              <a:t>kilka sposobów na radzenie sobie z początkową niechęcią wobec nowych propozycji:</a:t>
            </a:r>
          </a:p>
          <a:p>
            <a:r>
              <a:rPr lang="pl-PL" sz="1400" dirty="0"/>
              <a:t>- dokładnie, szczegółowo wyjaśnij na czym będzie polegała czynność i po co będzie wykonywana.</a:t>
            </a:r>
          </a:p>
          <a:p>
            <a:r>
              <a:rPr lang="pl-PL" sz="1400" dirty="0"/>
              <a:t>- wyjaśnij jakie są praktyczne korzyści z wykonywania czynności czy danej aktywności.</a:t>
            </a:r>
          </a:p>
          <a:p>
            <a:r>
              <a:rPr lang="pl-PL" sz="1400" dirty="0"/>
              <a:t>- sprawdź gotowość seniora na wykonanie danej czynności</a:t>
            </a:r>
          </a:p>
          <a:p>
            <a:r>
              <a:rPr lang="pl-PL" sz="1400" dirty="0"/>
              <a:t>- zamiana ról – senior jest ekspertem od samego siebie, wsłuchaj się co komunikuje senior, dopytaj czy dobrze zrozumiałeś i czemu jest to dla seniora takie ważne.</a:t>
            </a:r>
          </a:p>
        </p:txBody>
      </p:sp>
    </p:spTree>
    <p:extLst>
      <p:ext uri="{BB962C8B-B14F-4D97-AF65-F5344CB8AC3E}">
        <p14:creationId xmlns:p14="http://schemas.microsoft.com/office/powerpoint/2010/main" val="138624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539552" y="-910649"/>
            <a:ext cx="7560840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r>
              <a:rPr lang="pl-PL" sz="1400" b="1" dirty="0" smtClean="0"/>
              <a:t>Poszukiwanie </a:t>
            </a:r>
            <a:r>
              <a:rPr lang="pl-PL" sz="1400" b="1" dirty="0"/>
              <a:t>rozwiązania</a:t>
            </a:r>
            <a:r>
              <a:rPr lang="pl-PL" sz="1400" dirty="0" smtClean="0"/>
              <a:t>.</a:t>
            </a:r>
          </a:p>
          <a:p>
            <a:endParaRPr lang="pl-PL" sz="1400" dirty="0"/>
          </a:p>
          <a:p>
            <a:r>
              <a:rPr lang="pl-PL" sz="1400" dirty="0"/>
              <a:t>Podstawą jest poczucie seniora, że jest on bezpieczny, szanowany, że ma prawo wyboru      (w określonych granicach) i może ufać wolontariuszowi.</a:t>
            </a:r>
          </a:p>
          <a:p>
            <a:r>
              <a:rPr lang="pl-PL" sz="1400" dirty="0"/>
              <a:t> </a:t>
            </a:r>
          </a:p>
          <a:p>
            <a:r>
              <a:rPr lang="pl-PL" sz="1400" u="sng" dirty="0"/>
              <a:t>Jak to zrobić?  </a:t>
            </a:r>
            <a:r>
              <a:rPr lang="pl-PL" sz="1400" i="1" u="sng" dirty="0"/>
              <a:t>Oto kilka podpowiedzi</a:t>
            </a:r>
            <a:r>
              <a:rPr lang="pl-PL" sz="1400" i="1" u="sng" dirty="0" smtClean="0"/>
              <a:t>:</a:t>
            </a:r>
          </a:p>
          <a:p>
            <a:endParaRPr lang="pl-PL" sz="1400" dirty="0"/>
          </a:p>
          <a:p>
            <a:r>
              <a:rPr lang="pl-PL" sz="1400" dirty="0"/>
              <a:t>Jak mogę się do Pani/Pana zwracać?</a:t>
            </a:r>
          </a:p>
          <a:p>
            <a:r>
              <a:rPr lang="pl-PL" sz="1400" dirty="0"/>
              <a:t>Czy woli Pani/Pan jak ja dużo mówię?</a:t>
            </a:r>
          </a:p>
          <a:p>
            <a:r>
              <a:rPr lang="pl-PL" sz="1400" dirty="0"/>
              <a:t>Czy chciałaby Pani, abym się pytała czy mam sam/sama przejmować inicjatywę?</a:t>
            </a:r>
          </a:p>
          <a:p>
            <a:r>
              <a:rPr lang="pl-PL" sz="1400" dirty="0"/>
              <a:t>Czy chciałaby Pani/Pan żebym poczytał/</a:t>
            </a:r>
            <a:r>
              <a:rPr lang="pl-PL" sz="1400" dirty="0" err="1"/>
              <a:t>ła</a:t>
            </a:r>
            <a:r>
              <a:rPr lang="pl-PL" sz="1400" dirty="0"/>
              <a:t> Pani/Panu książkę, czy może porozmawiamy albo pójdziemy na spacer?</a:t>
            </a:r>
          </a:p>
          <a:p>
            <a:r>
              <a:rPr lang="pl-PL" sz="1400" dirty="0"/>
              <a:t>Czy coś Pani/Pan potrzebuje ze sklepu, w jakich granicach cenowych ma być ten produkt?</a:t>
            </a:r>
          </a:p>
          <a:p>
            <a:r>
              <a:rPr lang="pl-PL" sz="1400" dirty="0"/>
              <a:t>Czy tak Pani odpowiada?  Czy tak może być?</a:t>
            </a:r>
          </a:p>
          <a:p>
            <a:r>
              <a:rPr lang="pl-PL" sz="1400" dirty="0"/>
              <a:t> </a:t>
            </a:r>
          </a:p>
          <a:p>
            <a:r>
              <a:rPr lang="pl-PL" sz="1400" dirty="0"/>
              <a:t>Jeśli senior czegoś nie lubi bądź nie chce, generuje </a:t>
            </a:r>
            <a:r>
              <a:rPr lang="pl-PL" sz="1400" u="sng" dirty="0"/>
              <a:t>opór przed współpracą</a:t>
            </a:r>
            <a:r>
              <a:rPr lang="pl-PL" sz="1400" dirty="0"/>
              <a:t> z wolontariuszem. Rozwiązaniem  jest wysłuchanie, neutralność i ciekawość jak to widzi senior. Przeformułowanie celu, gdyż cel wolontariusza nie zawsze jest celem seniora.</a:t>
            </a:r>
          </a:p>
          <a:p>
            <a:r>
              <a:rPr lang="pl-PL" sz="1400" i="1" dirty="0"/>
              <a:t>Warto pamiętać, że przyjmowanie postawy „Ja wiem lepiej” wobec seniora nie koniecznie się sprawdza.</a:t>
            </a:r>
            <a:endParaRPr lang="pl-PL" sz="1400" dirty="0"/>
          </a:p>
          <a:p>
            <a:r>
              <a:rPr lang="pl-PL" sz="1400" b="1" dirty="0"/>
              <a:t> 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34547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899592" y="1305342"/>
            <a:ext cx="712879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b="1" dirty="0"/>
              <a:t>Konflikt pomiędzy dwoma seniorami</a:t>
            </a:r>
            <a:r>
              <a:rPr lang="pl-PL" sz="1400" b="1" dirty="0" smtClean="0"/>
              <a:t>.</a:t>
            </a:r>
          </a:p>
          <a:p>
            <a:endParaRPr lang="pl-PL" sz="1400" dirty="0"/>
          </a:p>
          <a:p>
            <a:r>
              <a:rPr lang="pl-PL" sz="1400" dirty="0"/>
              <a:t>W sytuacjach trudnych, kiedy emocje przejmują kontrolę nad osobami w konflikcie staraj się być neutralny, zadeklaruj swoją pomoc, ale w warunkach spokoju.</a:t>
            </a:r>
          </a:p>
          <a:p>
            <a:r>
              <a:rPr lang="pl-PL" sz="1400" dirty="0"/>
              <a:t>Przyjmij postawę neutralnego mediatora.</a:t>
            </a:r>
          </a:p>
          <a:p>
            <a:r>
              <a:rPr lang="pl-PL" sz="1400" dirty="0"/>
              <a:t>Powtarzanie postawy neutralnej pozwoli wykształcić właściwą postawę wobec osób starszych, która będzie skutkowała nawiązaniem bezpiecznej, pełnej szacunku relacji               z </a:t>
            </a:r>
            <a:r>
              <a:rPr lang="pl-PL" sz="1400" dirty="0" smtClean="0"/>
              <a:t>seniorami</a:t>
            </a:r>
          </a:p>
          <a:p>
            <a:endParaRPr lang="pl-PL" sz="1400" dirty="0"/>
          </a:p>
          <a:p>
            <a:r>
              <a:rPr lang="pl-PL" sz="1400" b="1" dirty="0"/>
              <a:t>- </a:t>
            </a:r>
            <a:r>
              <a:rPr lang="pl-PL" sz="1400" dirty="0"/>
              <a:t>pamiętaj co jest Twoim celem,  </a:t>
            </a:r>
            <a:r>
              <a:rPr lang="pl-PL" sz="1400" u="sng" dirty="0"/>
              <a:t>stabilizacja sytuacji</a:t>
            </a:r>
            <a:r>
              <a:rPr lang="pl-PL" sz="1400" dirty="0"/>
              <a:t> tak, abyś mógł kontynuować wolontariat,</a:t>
            </a:r>
          </a:p>
        </p:txBody>
      </p:sp>
    </p:spTree>
    <p:extLst>
      <p:ext uri="{BB962C8B-B14F-4D97-AF65-F5344CB8AC3E}">
        <p14:creationId xmlns:p14="http://schemas.microsoft.com/office/powerpoint/2010/main" val="148067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611560" y="-495151"/>
            <a:ext cx="8136904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b="1" dirty="0" smtClean="0"/>
          </a:p>
          <a:p>
            <a:endParaRPr lang="pl-PL" b="1" dirty="0"/>
          </a:p>
          <a:p>
            <a:endParaRPr lang="pl-PL" b="1" dirty="0" smtClean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r>
              <a:rPr lang="pl-PL" sz="1400" b="1" dirty="0" smtClean="0"/>
              <a:t>Pomocne </a:t>
            </a:r>
            <a:r>
              <a:rPr lang="pl-PL" sz="1400" b="1" dirty="0"/>
              <a:t>czynności</a:t>
            </a:r>
            <a:r>
              <a:rPr lang="pl-PL" sz="1400" b="1" dirty="0" smtClean="0"/>
              <a:t>:</a:t>
            </a:r>
          </a:p>
          <a:p>
            <a:endParaRPr lang="pl-PL" sz="1400" dirty="0"/>
          </a:p>
          <a:p>
            <a:r>
              <a:rPr lang="pl-PL" sz="1400" dirty="0"/>
              <a:t>- przekierowanie uwagi</a:t>
            </a:r>
          </a:p>
          <a:p>
            <a:r>
              <a:rPr lang="pl-PL" sz="1400" dirty="0"/>
              <a:t>- zaproponowanie innej czynności</a:t>
            </a:r>
          </a:p>
          <a:p>
            <a:r>
              <a:rPr lang="pl-PL" sz="1400" dirty="0"/>
              <a:t>- zadbanie o potrzeby dwóch stron</a:t>
            </a:r>
          </a:p>
          <a:p>
            <a:r>
              <a:rPr lang="pl-PL" sz="1400" dirty="0"/>
              <a:t>- czasami pomaga bardziej rozmowa indywidualna</a:t>
            </a:r>
          </a:p>
          <a:p>
            <a:r>
              <a:rPr lang="pl-PL" sz="1400" dirty="0"/>
              <a:t>- ustalenie zasad (kolejność, godzina, dzień)</a:t>
            </a:r>
          </a:p>
          <a:p>
            <a:r>
              <a:rPr lang="pl-PL" sz="1400" dirty="0"/>
              <a:t>- sposób</a:t>
            </a:r>
          </a:p>
          <a:p>
            <a:r>
              <a:rPr lang="pl-PL" sz="1400" dirty="0"/>
              <a:t>- gotowość na kompromis (termometr)</a:t>
            </a:r>
          </a:p>
          <a:p>
            <a:r>
              <a:rPr lang="pl-PL" sz="1400" dirty="0"/>
              <a:t>- daj czas, z doświadczenia wynika, że wiele spięć nie przeradza się w trudny konflikt (można pozostawić skonfliktowanych seniorów, aby załatwili sprawę między sobą po wcześniejszym upewnieniu się czy nie potrzebują neutralnego mediatora)</a:t>
            </a:r>
          </a:p>
          <a:p>
            <a:r>
              <a:rPr lang="pl-PL" sz="1400" dirty="0"/>
              <a:t>- daj prawo do samodzielnych prób rozwiązania konfliktów</a:t>
            </a:r>
          </a:p>
          <a:p>
            <a:r>
              <a:rPr lang="pl-PL" sz="1400" dirty="0"/>
              <a:t>- zwróć uwagę na rozłożenie sił pomiędzy osobami tzn. stan zdrowia, intelekt, sposoby radzenia sobie ze stresem, kiedy widzisz, że jeden z seniorów ponosi przewlekłe koszty konfliktu </a:t>
            </a:r>
            <a:r>
              <a:rPr lang="pl-PL" sz="1400" u="sng" dirty="0"/>
              <a:t>zgłoś ten fakt do koordynatora wolontariatu.</a:t>
            </a:r>
            <a:endParaRPr lang="pl-PL" sz="1400" dirty="0"/>
          </a:p>
          <a:p>
            <a:r>
              <a:rPr lang="pl-PL" sz="1400" dirty="0"/>
              <a:t>- indywidualna rozmowa, koncentracja na pozytywnych cechach seniora, na Jego mocnych stronach</a:t>
            </a:r>
          </a:p>
        </p:txBody>
      </p:sp>
    </p:spTree>
    <p:extLst>
      <p:ext uri="{BB962C8B-B14F-4D97-AF65-F5344CB8AC3E}">
        <p14:creationId xmlns:p14="http://schemas.microsoft.com/office/powerpoint/2010/main" val="31332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23528" y="-5896630"/>
            <a:ext cx="8496944" cy="13018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r>
              <a:rPr lang="pl-PL" sz="1400" b="1" dirty="0" smtClean="0"/>
              <a:t>Jak </a:t>
            </a:r>
            <a:r>
              <a:rPr lang="pl-PL" sz="1400" b="1" dirty="0"/>
              <a:t>zadbać o swoje emocje kiedy senior jest pobudzony i negatywnie ustosunkowany do wolontariusza</a:t>
            </a:r>
            <a:r>
              <a:rPr lang="pl-PL" sz="1400" b="1" dirty="0" smtClean="0"/>
              <a:t>?</a:t>
            </a:r>
          </a:p>
          <a:p>
            <a:endParaRPr lang="pl-PL" sz="1400" dirty="0"/>
          </a:p>
          <a:p>
            <a:r>
              <a:rPr lang="pl-PL" sz="1400" dirty="0"/>
              <a:t>- pamiętaj co jest Twoim celem (chcesz efektywnie pomagać w szacunku dla siebie i seniora)</a:t>
            </a:r>
          </a:p>
          <a:p>
            <a:r>
              <a:rPr lang="pl-PL" sz="1400" dirty="0"/>
              <a:t>- poproś o szacunek</a:t>
            </a:r>
          </a:p>
          <a:p>
            <a:r>
              <a:rPr lang="pl-PL" sz="1400" dirty="0"/>
              <a:t>-  poproś o uwagę</a:t>
            </a:r>
          </a:p>
          <a:p>
            <a:r>
              <a:rPr lang="pl-PL" sz="1400" dirty="0"/>
              <a:t>- poproś o wysłuchanie (mam coś ważnego do przekazania)</a:t>
            </a:r>
          </a:p>
          <a:p>
            <a:r>
              <a:rPr lang="pl-PL" sz="1400" dirty="0"/>
              <a:t>- używaj niskiego tonu i wolnego tempa mowy</a:t>
            </a:r>
          </a:p>
          <a:p>
            <a:r>
              <a:rPr lang="pl-PL" sz="1400" dirty="0"/>
              <a:t>- spróbuj przekazać sprawczość seniorowi (nie wszystko musimy wykonywać za seniora,  </a:t>
            </a:r>
            <a:r>
              <a:rPr lang="pl-PL" sz="1400" u="sng" dirty="0"/>
              <a:t>bądź czujny!</a:t>
            </a:r>
            <a:r>
              <a:rPr lang="pl-PL" sz="1400" dirty="0"/>
              <a:t>)</a:t>
            </a:r>
          </a:p>
          <a:p>
            <a:r>
              <a:rPr lang="pl-PL" sz="1400" dirty="0"/>
              <a:t>- zapytaj wprost o przyczynę pobudzenia, zdenerwowania używając słowa</a:t>
            </a:r>
          </a:p>
          <a:p>
            <a:r>
              <a:rPr lang="pl-PL" sz="1400" b="1" dirty="0"/>
              <a:t>CZEMU?</a:t>
            </a:r>
            <a:endParaRPr lang="pl-PL" sz="1400" dirty="0"/>
          </a:p>
          <a:p>
            <a:r>
              <a:rPr lang="pl-PL" sz="1400" dirty="0"/>
              <a:t>- udziel informacji seniorowi, </a:t>
            </a:r>
            <a:r>
              <a:rPr lang="pl-PL" sz="1400" dirty="0" smtClean="0"/>
              <a:t>widzę, </a:t>
            </a:r>
            <a:r>
              <a:rPr lang="pl-PL" sz="1400" dirty="0"/>
              <a:t>że nie jestem w stanie pomóc czy chciałaby Pani abym     z kimś o tym porozmawiała?</a:t>
            </a:r>
          </a:p>
          <a:p>
            <a:r>
              <a:rPr lang="pl-PL" sz="1400" dirty="0"/>
              <a:t>- interwencja, kiedy zauważysz, że senior przestaje sobie radzić, ponosi straty,</a:t>
            </a:r>
          </a:p>
          <a:p>
            <a:r>
              <a:rPr lang="pl-PL" sz="1400" dirty="0"/>
              <a:t>nie oceniaj tylko bezzwłocznie powiadom koordynatora</a:t>
            </a:r>
          </a:p>
          <a:p>
            <a:r>
              <a:rPr lang="pl-PL" sz="1400" dirty="0"/>
              <a:t>- powtarzaj, że senior robi coś dla siebie, dla zdrowia, dla dobrej kondycji</a:t>
            </a:r>
          </a:p>
          <a:p>
            <a:r>
              <a:rPr lang="pl-PL" sz="1400" dirty="0"/>
              <a:t>- </a:t>
            </a:r>
            <a:r>
              <a:rPr lang="pl-PL" sz="1400" u="sng" dirty="0"/>
              <a:t>dbaj o waszą wspólną relację</a:t>
            </a:r>
            <a:endParaRPr lang="pl-PL" sz="1400" dirty="0"/>
          </a:p>
          <a:p>
            <a:r>
              <a:rPr lang="pl-PL" sz="1400" b="1" dirty="0"/>
              <a:t> </a:t>
            </a:r>
            <a:endParaRPr lang="pl-PL" sz="1400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27705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23528" y="1443841"/>
            <a:ext cx="79208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r>
              <a:rPr lang="pl-PL" sz="1400" b="1" dirty="0" smtClean="0"/>
              <a:t>Kluczowy jest proces, a nie jednorazowa czynność.</a:t>
            </a:r>
            <a:endParaRPr lang="pl-PL" sz="1400" dirty="0" smtClean="0"/>
          </a:p>
          <a:p>
            <a:r>
              <a:rPr lang="pl-PL" sz="1400" b="1" dirty="0" smtClean="0"/>
              <a:t>- </a:t>
            </a:r>
            <a:r>
              <a:rPr lang="pl-PL" sz="1400" dirty="0" smtClean="0"/>
              <a:t>przygotowanie seniora z wyprzedzeniem o planowanych czynnościach</a:t>
            </a:r>
          </a:p>
          <a:p>
            <a:r>
              <a:rPr lang="pl-PL" sz="1400" dirty="0" smtClean="0"/>
              <a:t>- stałe czynności, rytuały dają seniorowi poczucie bezpieczeństwa</a:t>
            </a:r>
          </a:p>
          <a:p>
            <a:r>
              <a:rPr lang="pl-PL" sz="1400" dirty="0" smtClean="0"/>
              <a:t>- podkreślanie ważności chęci, zaangażowania, wiedzy oraz, że kondycję zapewnia regularność wykonywania czynności (gimnastyka, trening pamięci)</a:t>
            </a:r>
          </a:p>
          <a:p>
            <a:r>
              <a:rPr lang="pl-PL" sz="1400" dirty="0" smtClean="0"/>
              <a:t>- pochwały, podziękowanie seniorowi za staranie się za podejmowane próby, wysiłek, zrozumienie</a:t>
            </a:r>
          </a:p>
          <a:p>
            <a:r>
              <a:rPr lang="pl-PL" sz="1400" dirty="0" smtClean="0"/>
              <a:t> </a:t>
            </a:r>
            <a:endParaRPr lang="pl-PL" sz="1400" b="1" dirty="0"/>
          </a:p>
          <a:p>
            <a:r>
              <a:rPr lang="pl-PL" sz="1400" b="1" dirty="0" smtClean="0"/>
              <a:t>Obustronny szacunek pozwoli iść sprawom do przodu.</a:t>
            </a:r>
            <a:endParaRPr lang="pl-PL" sz="1400" dirty="0" smtClean="0"/>
          </a:p>
          <a:p>
            <a:r>
              <a:rPr lang="pl-PL" sz="1400" dirty="0" smtClean="0"/>
              <a:t>- każdy jest wartościowym człowiekiem, którego zachowanie zależy od sytuacji                          i jej interpretacji</a:t>
            </a:r>
          </a:p>
          <a:p>
            <a:r>
              <a:rPr lang="pl-PL" sz="1400" dirty="0" smtClean="0"/>
              <a:t>- widząc człowieka w sobie widzisz i rozumiesz drugiego</a:t>
            </a:r>
          </a:p>
          <a:p>
            <a:r>
              <a:rPr lang="pl-PL" sz="1400" dirty="0" smtClean="0"/>
              <a:t>- daj sobie prawo do szacunku dla siebie – zarządzaj samym sobą</a:t>
            </a:r>
          </a:p>
          <a:p>
            <a:r>
              <a:rPr lang="pl-PL" sz="1400" b="1" dirty="0" smtClean="0"/>
              <a:t> </a:t>
            </a:r>
            <a:endParaRPr lang="pl-PL" sz="1400" dirty="0" smtClean="0"/>
          </a:p>
          <a:p>
            <a:r>
              <a:rPr lang="pl-PL" sz="1400" b="1" dirty="0" smtClean="0"/>
              <a:t>Bliskość i stawianie granic.</a:t>
            </a:r>
            <a:endParaRPr lang="pl-PL" sz="1400" dirty="0" smtClean="0"/>
          </a:p>
          <a:p>
            <a:r>
              <a:rPr lang="pl-PL" sz="1400" dirty="0" smtClean="0"/>
              <a:t>- indywidualne preferencje do bliskich relacji lub dystansu</a:t>
            </a:r>
          </a:p>
          <a:p>
            <a:r>
              <a:rPr lang="pl-PL" sz="1400" dirty="0" smtClean="0"/>
              <a:t>- niezależnie od sposobu w jakim wolimy pracować z seniorem powinien być on przemyślany gdyż pracujemy z człowiekiem takim samym jak my tylko w gorszej sytuacji ze względu na: stan zdrowia, wiek, zaawansowanie choroby, zaburzenia komunikacji, osamotnienie, poczucie niesprawiedliwości, poczucie bycia niepotrzebnym, braku wiary, że będzie lepiej</a:t>
            </a:r>
          </a:p>
          <a:p>
            <a:r>
              <a:rPr lang="pl-PL" b="1" dirty="0" smtClean="0"/>
              <a:t> 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3568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/>
          <p:cNvSpPr/>
          <p:nvPr/>
        </p:nvSpPr>
        <p:spPr>
          <a:xfrm>
            <a:off x="323528" y="-2157144"/>
            <a:ext cx="8640960" cy="8494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endParaRPr lang="pl-PL" sz="1400" b="1" dirty="0"/>
          </a:p>
          <a:p>
            <a:endParaRPr lang="pl-PL" sz="1400" b="1" dirty="0" smtClean="0"/>
          </a:p>
          <a:p>
            <a:r>
              <a:rPr lang="pl-PL" sz="1400" b="1" dirty="0" smtClean="0"/>
              <a:t>Nie </a:t>
            </a:r>
            <a:r>
              <a:rPr lang="pl-PL" sz="1400" b="1" dirty="0"/>
              <a:t>wahaj się poszukać wsparcia.</a:t>
            </a:r>
            <a:endParaRPr lang="pl-PL" sz="1400" dirty="0"/>
          </a:p>
          <a:p>
            <a:r>
              <a:rPr lang="pl-PL" sz="1400" dirty="0"/>
              <a:t>- wymiana doświadczeń, podzielenie się wątpliwościami, spostrzeżeniami i innymi wolontariuszami może przyczynić się do poprawy sytuacji, </a:t>
            </a:r>
            <a:r>
              <a:rPr lang="pl-PL" sz="1400" dirty="0" smtClean="0"/>
              <a:t>daj </a:t>
            </a:r>
            <a:r>
              <a:rPr lang="pl-PL" sz="1400" dirty="0"/>
              <a:t>sobie do tego pełne prawo!</a:t>
            </a:r>
          </a:p>
          <a:p>
            <a:r>
              <a:rPr lang="pl-PL" sz="1400" dirty="0"/>
              <a:t>- </a:t>
            </a:r>
            <a:r>
              <a:rPr lang="pl-PL" sz="1400" i="1" dirty="0"/>
              <a:t>Unikaj plotek, każdy interpretuje według samego siebie!</a:t>
            </a:r>
            <a:endParaRPr lang="pl-PL" sz="1400" dirty="0"/>
          </a:p>
          <a:p>
            <a:r>
              <a:rPr lang="pl-PL" sz="1400" b="1" dirty="0"/>
              <a:t> </a:t>
            </a:r>
            <a:endParaRPr lang="pl-PL" sz="1400" dirty="0"/>
          </a:p>
          <a:p>
            <a:r>
              <a:rPr lang="pl-PL" sz="1400" b="1" dirty="0"/>
              <a:t>Żelazna zasada.</a:t>
            </a:r>
            <a:endParaRPr lang="pl-PL" sz="1400" dirty="0"/>
          </a:p>
          <a:p>
            <a:r>
              <a:rPr lang="pl-PL" sz="1400" dirty="0"/>
              <a:t>- niezależnie od preferowanego stopnia zażyłości z seniorem, wolontariusz nie może przekraczać granicy jaką jest wchodzenie w rolę członka rodziny/bliskiego przyjaciela</a:t>
            </a:r>
          </a:p>
          <a:p>
            <a:r>
              <a:rPr lang="pl-PL" sz="1400" dirty="0"/>
              <a:t>-opieraj swoje informacje  i działania wobec seniorów na faktach, za wszelką cenę unikaj sugerowania się plotkami,</a:t>
            </a:r>
          </a:p>
          <a:p>
            <a:r>
              <a:rPr lang="pl-PL" sz="1400" dirty="0"/>
              <a:t>-opierając się na takich cechach jak rzetelność, wiarygodność, sumienność i uczciwość jesteś na najlepszej drodze do zbudowania wspaniałej, opartej na mocnych fundamentach relacji </a:t>
            </a:r>
            <a:r>
              <a:rPr lang="pl-PL" sz="1400" dirty="0" smtClean="0"/>
              <a:t>z </a:t>
            </a:r>
            <a:r>
              <a:rPr lang="pl-PL" sz="1400" dirty="0"/>
              <a:t>seniorem</a:t>
            </a:r>
          </a:p>
          <a:p>
            <a:r>
              <a:rPr lang="pl-PL" sz="1400" b="1" dirty="0"/>
              <a:t> </a:t>
            </a:r>
            <a:endParaRPr lang="pl-PL" sz="1400" dirty="0"/>
          </a:p>
          <a:p>
            <a:r>
              <a:rPr lang="pl-PL" sz="1400" b="1" dirty="0"/>
              <a:t>Teoria Równowagi w życiu seniora, </a:t>
            </a:r>
            <a:r>
              <a:rPr lang="pl-PL" sz="1400" dirty="0"/>
              <a:t>  4 równe pola (jeśli to wykonalne):</a:t>
            </a:r>
          </a:p>
          <a:p>
            <a:pPr lvl="0"/>
            <a:r>
              <a:rPr lang="pl-PL" sz="1400" dirty="0"/>
              <a:t>Gimnastyka, spacery, ruch</a:t>
            </a:r>
          </a:p>
          <a:p>
            <a:pPr lvl="0"/>
            <a:r>
              <a:rPr lang="pl-PL" sz="1400" dirty="0"/>
              <a:t>Imprezy, spotkania, zajęcia, kluby seniora</a:t>
            </a:r>
          </a:p>
          <a:p>
            <a:pPr lvl="0"/>
            <a:r>
              <a:rPr lang="pl-PL" sz="1400" dirty="0"/>
              <a:t>Kontakt z rodziną, relacje z </a:t>
            </a:r>
            <a:r>
              <a:rPr lang="pl-PL" sz="1400" dirty="0" err="1"/>
              <a:t>pomagaczami</a:t>
            </a:r>
            <a:endParaRPr lang="pl-PL" sz="1400" dirty="0"/>
          </a:p>
          <a:p>
            <a:pPr lvl="0"/>
            <a:r>
              <a:rPr lang="pl-PL" sz="1400" dirty="0"/>
              <a:t>Terapia zajęciowa, kółka zainteresowań, hobby</a:t>
            </a:r>
          </a:p>
          <a:p>
            <a:r>
              <a:rPr lang="pl-PL" sz="1400" dirty="0"/>
              <a:t> </a:t>
            </a:r>
          </a:p>
          <a:p>
            <a:r>
              <a:rPr lang="pl-PL" sz="1400" i="1" dirty="0"/>
              <a:t>Zachowanie RÓWNOWAGI powoduje pozytywne objawy!!!</a:t>
            </a:r>
            <a:endParaRPr lang="pl-PL" sz="1400" dirty="0"/>
          </a:p>
          <a:p>
            <a:r>
              <a:rPr lang="pl-PL" sz="1400" i="1" dirty="0"/>
              <a:t>Masz na to wpływ </a:t>
            </a:r>
            <a:r>
              <a:rPr lang="pl-PL" sz="1400" i="1" dirty="0">
                <a:sym typeface="Wingdings"/>
              </a:rPr>
              <a:t></a:t>
            </a:r>
            <a:r>
              <a:rPr lang="pl-PL" sz="1400" i="1" dirty="0"/>
              <a:t>.</a:t>
            </a:r>
            <a:endParaRPr lang="pl-PL" sz="1400" dirty="0"/>
          </a:p>
          <a:p>
            <a:r>
              <a:rPr lang="pl-PL" sz="1400" i="1" dirty="0"/>
              <a:t> </a:t>
            </a:r>
            <a:endParaRPr lang="pl-PL" sz="1400" dirty="0"/>
          </a:p>
          <a:p>
            <a:r>
              <a:rPr lang="pl-PL" sz="1400" dirty="0"/>
              <a:t> </a:t>
            </a:r>
          </a:p>
          <a:p>
            <a:r>
              <a:rPr lang="pl-PL" sz="1400" dirty="0"/>
              <a:t> </a:t>
            </a:r>
          </a:p>
          <a:p>
            <a:r>
              <a:rPr lang="pl-PL" sz="1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6485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erodynamiczny">
  <a:themeElements>
    <a:clrScheme name="Aerodynamiczny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erodynamiczny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erodynamiczny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200</TotalTime>
  <Words>787</Words>
  <Application>Microsoft Office PowerPoint</Application>
  <PresentationFormat>Pokaz na ekranie (4:3)</PresentationFormat>
  <Paragraphs>248</Paragraphs>
  <Slides>12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Aerodynamiczny</vt:lpstr>
      <vt:lpstr>Późna dorosłość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Jak pracować  z osobami w podeszłym wieku?</dc:title>
  <dc:creator>Katarzyna Zasowska</dc:creator>
  <cp:lastModifiedBy>Katarzyna Zasowska</cp:lastModifiedBy>
  <cp:revision>10</cp:revision>
  <dcterms:created xsi:type="dcterms:W3CDTF">2024-02-27T12:07:40Z</dcterms:created>
  <dcterms:modified xsi:type="dcterms:W3CDTF">2024-03-01T08:21:14Z</dcterms:modified>
</cp:coreProperties>
</file>